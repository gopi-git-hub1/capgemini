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14737677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5ED2CB-91B6-2A14-E7D4-5A7CD38651A0}" v="6" dt="2025-06-24T16:47:24.6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3" d="100"/>
          <a:sy n="63" d="100"/>
        </p:scale>
        <p:origin x="6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pi, Chappidi" userId="S::chappidi.gopi@capgemini.com::85f1afeb-d5e3-4ced-8c4b-15ef6bf8fa89" providerId="AD" clId="Web-{AB5ED2CB-91B6-2A14-E7D4-5A7CD38651A0}"/>
    <pc:docChg chg="modSld">
      <pc:chgData name="Gopi, Chappidi" userId="S::chappidi.gopi@capgemini.com::85f1afeb-d5e3-4ced-8c4b-15ef6bf8fa89" providerId="AD" clId="Web-{AB5ED2CB-91B6-2A14-E7D4-5A7CD38651A0}" dt="2025-06-24T16:47:24.633" v="5" actId="14100"/>
      <pc:docMkLst>
        <pc:docMk/>
      </pc:docMkLst>
      <pc:sldChg chg="modSp">
        <pc:chgData name="Gopi, Chappidi" userId="S::chappidi.gopi@capgemini.com::85f1afeb-d5e3-4ced-8c4b-15ef6bf8fa89" providerId="AD" clId="Web-{AB5ED2CB-91B6-2A14-E7D4-5A7CD38651A0}" dt="2025-06-24T16:47:24.633" v="5" actId="14100"/>
        <pc:sldMkLst>
          <pc:docMk/>
          <pc:sldMk cId="1315565703" sldId="2147376778"/>
        </pc:sldMkLst>
        <pc:spChg chg="mod">
          <ac:chgData name="Gopi, Chappidi" userId="S::chappidi.gopi@capgemini.com::85f1afeb-d5e3-4ced-8c4b-15ef6bf8fa89" providerId="AD" clId="Web-{AB5ED2CB-91B6-2A14-E7D4-5A7CD38651A0}" dt="2025-06-24T16:47:24.633" v="5" actId="14100"/>
          <ac:spMkLst>
            <pc:docMk/>
            <pc:sldMk cId="1315565703" sldId="2147376778"/>
            <ac:spMk id="43" creationId="{76E32A8F-6C9B-4803-9E38-A257EC82988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89C44E-F16A-41FD-A030-BE5D5B501FE8}" type="datetimeFigureOut">
              <a:t>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EBB321-0F16-4DA2-AC12-E8F0A3DB5E15}" type="slidenum">
              <a:t>‹#›</a:t>
            </a:fld>
            <a:endParaRPr lang="en-US"/>
          </a:p>
        </p:txBody>
      </p:sp>
    </p:spTree>
    <p:extLst>
      <p:ext uri="{BB962C8B-B14F-4D97-AF65-F5344CB8AC3E}">
        <p14:creationId xmlns:p14="http://schemas.microsoft.com/office/powerpoint/2010/main" val="199671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fr-FR"/>
          </a:p>
        </p:txBody>
      </p:sp>
    </p:spTree>
    <p:extLst>
      <p:ext uri="{BB962C8B-B14F-4D97-AF65-F5344CB8AC3E}">
        <p14:creationId xmlns:p14="http://schemas.microsoft.com/office/powerpoint/2010/main" val="2559853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Blank-White">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81E5C78D-936C-4606-90E1-3C4AA92B70AE}"/>
              </a:ext>
            </a:extLst>
          </p:cNvPr>
          <p:cNvSpPr>
            <a:spLocks noGrp="1"/>
          </p:cNvSpPr>
          <p:nvPr>
            <p:ph type="title" hasCustomPrompt="1"/>
          </p:nvPr>
        </p:nvSpPr>
        <p:spPr>
          <a:xfrm>
            <a:off x="407987" y="404813"/>
            <a:ext cx="9661695" cy="863600"/>
          </a:xfrm>
          <a:prstGeom prst="rect">
            <a:avLst/>
          </a:prstGeom>
        </p:spPr>
        <p:txBody>
          <a:bodyPr vert="horz" lIns="0" tIns="0" rIns="0" bIns="0" rtlCol="0" anchor="t">
            <a:normAutofit/>
          </a:bodyPr>
          <a:lstStyle>
            <a:lvl1pPr>
              <a:defRPr lang="pt-PT" dirty="0"/>
            </a:lvl1pPr>
          </a:lstStyle>
          <a:p>
            <a:pPr lvl="0">
              <a:lnSpc>
                <a:spcPts val="2438"/>
              </a:lnSpc>
            </a:pPr>
            <a:r>
              <a:rPr lang="en-US"/>
              <a:t>Click to add title</a:t>
            </a:r>
            <a:endParaRPr lang="pt-PT"/>
          </a:p>
        </p:txBody>
      </p:sp>
    </p:spTree>
    <p:extLst>
      <p:ext uri="{BB962C8B-B14F-4D97-AF65-F5344CB8AC3E}">
        <p14:creationId xmlns:p14="http://schemas.microsoft.com/office/powerpoint/2010/main" val="3187265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image" Target="../media/image2.jpeg"/><Relationship Id="rId5" Type="http://schemas.openxmlformats.org/officeDocument/2006/relationships/image" Target="../media/image1.e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orme libre : forme 12">
            <a:extLst>
              <a:ext uri="{FF2B5EF4-FFF2-40B4-BE49-F238E27FC236}">
                <a16:creationId xmlns:a16="http://schemas.microsoft.com/office/drawing/2014/main" id="{1419183B-AC25-4396-85DC-9EF38A17A5D0}"/>
              </a:ext>
            </a:extLst>
          </p:cNvPr>
          <p:cNvSpPr>
            <a:spLocks/>
          </p:cNvSpPr>
          <p:nvPr/>
        </p:nvSpPr>
        <p:spPr bwMode="auto">
          <a:xfrm>
            <a:off x="-172659" y="-5361"/>
            <a:ext cx="3896180" cy="2119619"/>
          </a:xfrm>
          <a:custGeom>
            <a:avLst/>
            <a:gdLst>
              <a:gd name="connsiteX0" fmla="*/ 0 w 4387451"/>
              <a:gd name="connsiteY0" fmla="*/ 0 h 2865889"/>
              <a:gd name="connsiteX1" fmla="*/ 4154447 w 4387451"/>
              <a:gd name="connsiteY1" fmla="*/ 0 h 2865889"/>
              <a:gd name="connsiteX2" fmla="*/ 4202846 w 4387451"/>
              <a:gd name="connsiteY2" fmla="*/ 84331 h 2865889"/>
              <a:gd name="connsiteX3" fmla="*/ 4047196 w 4387451"/>
              <a:gd name="connsiteY3" fmla="*/ 1458414 h 2865889"/>
              <a:gd name="connsiteX4" fmla="*/ 3034205 w 4387451"/>
              <a:gd name="connsiteY4" fmla="*/ 1821003 h 2865889"/>
              <a:gd name="connsiteX5" fmla="*/ 2192827 w 4387451"/>
              <a:gd name="connsiteY5" fmla="*/ 2343418 h 2865889"/>
              <a:gd name="connsiteX6" fmla="*/ 0 w 4387451"/>
              <a:gd name="connsiteY6" fmla="*/ 2508014 h 2865889"/>
              <a:gd name="connsiteX7" fmla="*/ 0 w 4387451"/>
              <a:gd name="connsiteY7" fmla="*/ 15192 h 2865889"/>
              <a:gd name="connsiteX8" fmla="*/ 0 w 4387451"/>
              <a:gd name="connsiteY8" fmla="*/ 0 h 2865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7451" h="2865889">
                <a:moveTo>
                  <a:pt x="0" y="0"/>
                </a:moveTo>
                <a:lnTo>
                  <a:pt x="4154447" y="0"/>
                </a:lnTo>
                <a:lnTo>
                  <a:pt x="4202846" y="84331"/>
                </a:lnTo>
                <a:cubicBezTo>
                  <a:pt x="4394667" y="441800"/>
                  <a:pt x="4555181" y="1003687"/>
                  <a:pt x="4047196" y="1458414"/>
                </a:cubicBezTo>
                <a:cubicBezTo>
                  <a:pt x="4047196" y="1458414"/>
                  <a:pt x="3785010" y="1303359"/>
                  <a:pt x="3034205" y="1821003"/>
                </a:cubicBezTo>
                <a:cubicBezTo>
                  <a:pt x="2807772" y="1980829"/>
                  <a:pt x="2507450" y="2140654"/>
                  <a:pt x="2192827" y="2343418"/>
                </a:cubicBezTo>
                <a:cubicBezTo>
                  <a:pt x="1492076" y="2799040"/>
                  <a:pt x="581576" y="3166400"/>
                  <a:pt x="0" y="2508014"/>
                </a:cubicBezTo>
                <a:cubicBezTo>
                  <a:pt x="0" y="1031641"/>
                  <a:pt x="0" y="339590"/>
                  <a:pt x="0" y="15192"/>
                </a:cubicBezTo>
                <a:lnTo>
                  <a:pt x="0" y="0"/>
                </a:lnTo>
                <a:close/>
              </a:path>
            </a:pathLst>
          </a:custGeom>
          <a:solidFill>
            <a:srgbClr val="004494"/>
          </a:solidFill>
          <a:ln>
            <a:noFill/>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000000"/>
              </a:solidFill>
              <a:effectLst/>
              <a:uLnTx/>
              <a:uFillTx/>
              <a:latin typeface="Verdana"/>
              <a:ea typeface="+mn-ea"/>
              <a:cs typeface="+mn-cs"/>
            </a:endParaRPr>
          </a:p>
        </p:txBody>
      </p:sp>
      <p:graphicFrame>
        <p:nvGraphicFramePr>
          <p:cNvPr id="14" name="Object 13" hidden="1"/>
          <p:cNvGraphicFramePr>
            <a:graphicFrameLocks noChangeAspect="1"/>
          </p:cNvGraphicFramePr>
          <p:nvPr>
            <p:custDataLst>
              <p:tags r:id="rId1"/>
            </p:custDataLst>
          </p:nvPr>
        </p:nvGraphicFramePr>
        <p:xfrm>
          <a:off x="1144589" y="1589"/>
          <a:ext cx="1587" cy="1587"/>
        </p:xfrm>
        <a:graphic>
          <a:graphicData uri="http://schemas.openxmlformats.org/presentationml/2006/ole">
            <mc:AlternateContent xmlns:mc="http://schemas.openxmlformats.org/markup-compatibility/2006">
              <mc:Choice xmlns:v="urn:schemas-microsoft-com:vml" Requires="v">
                <p:oleObj name="Diapositive think-cell" r:id="rId4" imgW="216" imgH="216" progId="TCLayout.ActiveDocument.1">
                  <p:embed/>
                </p:oleObj>
              </mc:Choice>
              <mc:Fallback>
                <p:oleObj name="Diapositive think-cell" r:id="rId4" imgW="216" imgH="216" progId="TCLayout.ActiveDocument.1">
                  <p:embed/>
                  <p:pic>
                    <p:nvPicPr>
                      <p:cNvPr id="14" name="Object 13" hidden="1"/>
                      <p:cNvPicPr/>
                      <p:nvPr/>
                    </p:nvPicPr>
                    <p:blipFill>
                      <a:blip r:embed="rId5"/>
                      <a:stretch>
                        <a:fillRect/>
                      </a:stretch>
                    </p:blipFill>
                    <p:spPr>
                      <a:xfrm>
                        <a:off x="1144589" y="1589"/>
                        <a:ext cx="1587" cy="1587"/>
                      </a:xfrm>
                      <a:prstGeom prst="rect">
                        <a:avLst/>
                      </a:prstGeom>
                    </p:spPr>
                  </p:pic>
                </p:oleObj>
              </mc:Fallback>
            </mc:AlternateContent>
          </a:graphicData>
        </a:graphic>
      </p:graphicFrame>
      <p:cxnSp>
        <p:nvCxnSpPr>
          <p:cNvPr id="39" name="Connecteur droit 89">
            <a:extLst>
              <a:ext uri="{FF2B5EF4-FFF2-40B4-BE49-F238E27FC236}">
                <a16:creationId xmlns:a16="http://schemas.microsoft.com/office/drawing/2014/main" id="{D5F438F5-FDEC-4E30-948D-4D18C46EDEAC}"/>
              </a:ext>
            </a:extLst>
          </p:cNvPr>
          <p:cNvCxnSpPr>
            <a:cxnSpLocks/>
          </p:cNvCxnSpPr>
          <p:nvPr/>
        </p:nvCxnSpPr>
        <p:spPr>
          <a:xfrm>
            <a:off x="8183022" y="272995"/>
            <a:ext cx="0" cy="6205289"/>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4D2CD69-11E2-4F75-8A0C-663626BA931D}"/>
              </a:ext>
            </a:extLst>
          </p:cNvPr>
          <p:cNvSpPr/>
          <p:nvPr/>
        </p:nvSpPr>
        <p:spPr>
          <a:xfrm>
            <a:off x="-170406" y="1653708"/>
            <a:ext cx="4015202" cy="565736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dirty="0">
              <a:ln>
                <a:noFill/>
              </a:ln>
              <a:solidFill>
                <a:srgbClr val="000000"/>
              </a:solidFill>
              <a:effectLst/>
              <a:uLnTx/>
              <a:uFillTx/>
              <a:latin typeface="Verdana"/>
              <a:ea typeface="+mn-ea"/>
              <a:cs typeface="+mn-cs"/>
            </a:endParaRPr>
          </a:p>
        </p:txBody>
      </p:sp>
      <p:sp>
        <p:nvSpPr>
          <p:cNvPr id="43" name="Content Placeholder 3">
            <a:extLst>
              <a:ext uri="{FF2B5EF4-FFF2-40B4-BE49-F238E27FC236}">
                <a16:creationId xmlns:a16="http://schemas.microsoft.com/office/drawing/2014/main" id="{76E32A8F-6C9B-4803-9E38-A257EC829882}"/>
              </a:ext>
            </a:extLst>
          </p:cNvPr>
          <p:cNvSpPr txBox="1">
            <a:spLocks/>
          </p:cNvSpPr>
          <p:nvPr/>
        </p:nvSpPr>
        <p:spPr>
          <a:xfrm>
            <a:off x="-178384" y="1603552"/>
            <a:ext cx="3889570" cy="1317802"/>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lvl="1" indent="-121920" algn="just">
              <a:lnSpc>
                <a:spcPct val="100000"/>
              </a:lnSpc>
              <a:spcBef>
                <a:spcPts val="0"/>
              </a:spcBef>
              <a:spcAft>
                <a:spcPts val="0"/>
              </a:spcAft>
              <a:buClr>
                <a:srgbClr val="12ABDB"/>
              </a:buClr>
              <a:buFont typeface="Arial,Sans-Serif" panose="020B0604020202020204" pitchFamily="34" charset="0"/>
              <a:buChar char="•"/>
              <a:tabLst>
                <a:tab pos="457200" algn="l"/>
              </a:tabLst>
            </a:pPr>
            <a:r>
              <a:rPr lang="en-US" sz="1100" dirty="0">
                <a:latin typeface="WordVisi_MSFontService"/>
                <a:ea typeface="Verdana"/>
              </a:rPr>
              <a:t>A software engineer with 5 years of experience in Development various OEMs. In depth knowledge in C, C++ programming, Linux commands and experience in Application Development.</a:t>
            </a:r>
          </a:p>
          <a:p>
            <a:pPr lvl="1" indent="-121920" algn="just">
              <a:lnSpc>
                <a:spcPct val="100000"/>
              </a:lnSpc>
              <a:spcBef>
                <a:spcPts val="0"/>
              </a:spcBef>
              <a:spcAft>
                <a:spcPts val="0"/>
              </a:spcAft>
              <a:buClr>
                <a:srgbClr val="12ABDB"/>
              </a:buClr>
              <a:buFont typeface="Arial,Sans-Serif" panose="020B0604020202020204" pitchFamily="34" charset="0"/>
              <a:buChar char="•"/>
              <a:tabLst>
                <a:tab pos="457200" algn="l"/>
              </a:tabLst>
            </a:pPr>
            <a:r>
              <a:rPr lang="en-US" sz="1100" dirty="0">
                <a:latin typeface="WordVisi_MSFontService"/>
                <a:ea typeface="Verdana"/>
              </a:rPr>
              <a:t>Having good working experience on Windows, Linux operating system and object-oriented programming and Software Development Life Cycle Methodologies. </a:t>
            </a:r>
          </a:p>
        </p:txBody>
      </p:sp>
      <p:sp>
        <p:nvSpPr>
          <p:cNvPr id="45" name="ZoneTexte 358">
            <a:extLst>
              <a:ext uri="{FF2B5EF4-FFF2-40B4-BE49-F238E27FC236}">
                <a16:creationId xmlns:a16="http://schemas.microsoft.com/office/drawing/2014/main" id="{2C2026F9-05AB-4499-A4E1-DC9C697FD3F9}"/>
              </a:ext>
            </a:extLst>
          </p:cNvPr>
          <p:cNvSpPr txBox="1"/>
          <p:nvPr/>
        </p:nvSpPr>
        <p:spPr>
          <a:xfrm rot="5400000">
            <a:off x="1753601" y="1990433"/>
            <a:ext cx="237880" cy="3792964"/>
          </a:xfrm>
          <a:prstGeom prst="round2SameRect">
            <a:avLst>
              <a:gd name="adj1" fmla="val 50000"/>
              <a:gd name="adj2" fmla="val 0"/>
            </a:avLst>
          </a:prstGeom>
          <a:solidFill>
            <a:schemeClr val="accent1"/>
          </a:solidFill>
        </p:spPr>
        <p:txBody>
          <a:bodyPr vert="vert270" wrap="square" bIns="360000" rtlCol="0" anchor="ctr">
            <a:noAutofit/>
          </a:bodyPr>
          <a:lstStyle/>
          <a:p>
            <a:pPr marL="0" marR="0" lvl="0" indent="0" algn="l" defTabSz="957756" rtl="0" eaLnBrk="1" fontAlgn="auto" latinLnBrk="0" hangingPunct="1">
              <a:lnSpc>
                <a:spcPct val="100000"/>
              </a:lnSpc>
              <a:spcBef>
                <a:spcPts val="0"/>
              </a:spcBef>
              <a:spcAft>
                <a:spcPts val="0"/>
              </a:spcAft>
              <a:buClr>
                <a:srgbClr val="FFFFFF"/>
              </a:buClr>
              <a:buSzTx/>
              <a:buFontTx/>
              <a:buNone/>
              <a:tabLst/>
              <a:defRPr/>
            </a:pPr>
            <a:r>
              <a:rPr kumimoji="0" lang="en-US" sz="11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Education</a:t>
            </a:r>
          </a:p>
        </p:txBody>
      </p:sp>
      <p:sp>
        <p:nvSpPr>
          <p:cNvPr id="48" name="Content Placeholder 3">
            <a:extLst>
              <a:ext uri="{FF2B5EF4-FFF2-40B4-BE49-F238E27FC236}">
                <a16:creationId xmlns:a16="http://schemas.microsoft.com/office/drawing/2014/main" id="{3BBF1778-7635-48A8-ACF2-3ED16C09651F}"/>
              </a:ext>
            </a:extLst>
          </p:cNvPr>
          <p:cNvSpPr txBox="1">
            <a:spLocks/>
          </p:cNvSpPr>
          <p:nvPr/>
        </p:nvSpPr>
        <p:spPr>
          <a:xfrm>
            <a:off x="95295" y="5017385"/>
            <a:ext cx="2605882" cy="552406"/>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numCol="1"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171450" lvl="2" indent="-171450">
              <a:lnSpc>
                <a:spcPct val="100000"/>
              </a:lnSpc>
              <a:spcBef>
                <a:spcPts val="0"/>
              </a:spcBef>
              <a:spcAft>
                <a:spcPts val="0"/>
              </a:spcAft>
              <a:buClr>
                <a:srgbClr val="0070AD"/>
              </a:buClr>
              <a:buSzPct val="100000"/>
              <a:defRPr/>
            </a:pPr>
            <a:r>
              <a:rPr lang="en-US" sz="1200" dirty="0">
                <a:latin typeface="WordVisi_MSFontService"/>
                <a:ea typeface="Verdana"/>
              </a:rPr>
              <a:t>Applications</a:t>
            </a:r>
          </a:p>
          <a:p>
            <a:pPr marL="171450" lvl="2" indent="-171450">
              <a:lnSpc>
                <a:spcPct val="100000"/>
              </a:lnSpc>
              <a:spcBef>
                <a:spcPts val="0"/>
              </a:spcBef>
              <a:spcAft>
                <a:spcPts val="0"/>
              </a:spcAft>
              <a:buClr>
                <a:srgbClr val="0070AD"/>
              </a:buClr>
              <a:buSzPct val="100000"/>
              <a:defRPr/>
            </a:pPr>
            <a:r>
              <a:rPr lang="en-US" sz="1200" dirty="0">
                <a:latin typeface="WordVisi_MSFontService"/>
                <a:ea typeface="Verdana"/>
              </a:rPr>
              <a:t>Automotive &amp; Embedded Software</a:t>
            </a:r>
            <a:endParaRPr lang="en-US" sz="1000" dirty="0">
              <a:latin typeface="Ubuntu" panose="020B0504030602030204" pitchFamily="34" charset="0"/>
            </a:endParaRPr>
          </a:p>
          <a:p>
            <a:pPr marL="0" lvl="2" indent="0">
              <a:lnSpc>
                <a:spcPct val="100000"/>
              </a:lnSpc>
              <a:spcBef>
                <a:spcPts val="0"/>
              </a:spcBef>
              <a:spcAft>
                <a:spcPts val="0"/>
              </a:spcAft>
              <a:buClr>
                <a:srgbClr val="0070AD"/>
              </a:buClr>
              <a:buSzPct val="100000"/>
              <a:buNone/>
              <a:defRPr/>
            </a:pPr>
            <a:endParaRPr lang="en-US" sz="1000" dirty="0">
              <a:latin typeface="Ubuntu" panose="020B0504030602030204" pitchFamily="34" charset="0"/>
            </a:endParaRPr>
          </a:p>
          <a:p>
            <a:pPr marL="0" lvl="2" indent="0">
              <a:lnSpc>
                <a:spcPct val="100000"/>
              </a:lnSpc>
              <a:spcBef>
                <a:spcPts val="0"/>
              </a:spcBef>
              <a:spcAft>
                <a:spcPts val="0"/>
              </a:spcAft>
              <a:buClr>
                <a:srgbClr val="0070AD"/>
              </a:buClr>
              <a:buSzPct val="100000"/>
              <a:buNone/>
              <a:defRPr/>
            </a:pPr>
            <a:endParaRPr lang="en-US" sz="1000" dirty="0">
              <a:latin typeface="Ubuntu" panose="020B0504030602030204" pitchFamily="34" charset="0"/>
            </a:endParaRPr>
          </a:p>
          <a:p>
            <a:pPr marL="0" lvl="2" indent="0">
              <a:lnSpc>
                <a:spcPct val="100000"/>
              </a:lnSpc>
              <a:spcBef>
                <a:spcPts val="0"/>
              </a:spcBef>
              <a:spcAft>
                <a:spcPts val="0"/>
              </a:spcAft>
              <a:buClr>
                <a:srgbClr val="0070AD"/>
              </a:buClr>
              <a:buSzPct val="100000"/>
              <a:buNone/>
              <a:defRPr/>
            </a:pPr>
            <a:endParaRPr lang="en-US" sz="1000" dirty="0">
              <a:latin typeface="Ubuntu" panose="020B0504030602030204" pitchFamily="34" charset="0"/>
            </a:endParaRPr>
          </a:p>
        </p:txBody>
      </p:sp>
      <p:sp>
        <p:nvSpPr>
          <p:cNvPr id="49" name="ZoneTexte 369">
            <a:extLst>
              <a:ext uri="{FF2B5EF4-FFF2-40B4-BE49-F238E27FC236}">
                <a16:creationId xmlns:a16="http://schemas.microsoft.com/office/drawing/2014/main" id="{B2287754-1B4F-4F65-A29C-0288B21E6890}"/>
              </a:ext>
            </a:extLst>
          </p:cNvPr>
          <p:cNvSpPr txBox="1"/>
          <p:nvPr/>
        </p:nvSpPr>
        <p:spPr>
          <a:xfrm rot="5400000">
            <a:off x="1769571" y="3068490"/>
            <a:ext cx="263776" cy="3792964"/>
          </a:xfrm>
          <a:prstGeom prst="round2SameRect">
            <a:avLst>
              <a:gd name="adj1" fmla="val 50000"/>
              <a:gd name="adj2" fmla="val 0"/>
            </a:avLst>
          </a:prstGeom>
          <a:solidFill>
            <a:schemeClr val="accent1"/>
          </a:solidFill>
        </p:spPr>
        <p:txBody>
          <a:bodyPr vert="vert270" wrap="square" bIns="360000" numCol="1" rtlCol="0" anchor="ctr">
            <a:noAutofit/>
          </a:bodyPr>
          <a:lstStyle/>
          <a:p>
            <a:pPr marL="0" marR="0" lvl="0" indent="0" algn="l" defTabSz="957756" rtl="0" eaLnBrk="1" fontAlgn="auto" latinLnBrk="0" hangingPunct="1">
              <a:lnSpc>
                <a:spcPct val="100000"/>
              </a:lnSpc>
              <a:spcBef>
                <a:spcPts val="0"/>
              </a:spcBef>
              <a:spcAft>
                <a:spcPts val="0"/>
              </a:spcAft>
              <a:buClr>
                <a:srgbClr val="FFFFFF"/>
              </a:buClr>
              <a:buSzTx/>
              <a:buFontTx/>
              <a:buNone/>
              <a:tabLst/>
              <a:defRPr/>
            </a:pPr>
            <a:r>
              <a:rPr kumimoji="0" lang="en-US" sz="11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Sectors</a:t>
            </a:r>
          </a:p>
        </p:txBody>
      </p:sp>
      <p:sp>
        <p:nvSpPr>
          <p:cNvPr id="50" name="Rectangle 49">
            <a:extLst>
              <a:ext uri="{FF2B5EF4-FFF2-40B4-BE49-F238E27FC236}">
                <a16:creationId xmlns:a16="http://schemas.microsoft.com/office/drawing/2014/main" id="{1AC29596-A7EC-47AF-B93B-BFFF8AB010E5}"/>
              </a:ext>
            </a:extLst>
          </p:cNvPr>
          <p:cNvSpPr/>
          <p:nvPr/>
        </p:nvSpPr>
        <p:spPr>
          <a:xfrm>
            <a:off x="4294780" y="9285"/>
            <a:ext cx="3655176" cy="292388"/>
          </a:xfrm>
          <a:prstGeom prst="rect">
            <a:avLst/>
          </a:prstGeom>
          <a:noFill/>
        </p:spPr>
        <p:txBody>
          <a:bodyPr wrap="square">
            <a:spAutoFit/>
          </a:bodyP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98B98"/>
                </a:solidFill>
                <a:effectLst/>
                <a:uLnTx/>
                <a:uFillTx/>
                <a:latin typeface="Verdana"/>
                <a:ea typeface="+mn-ea"/>
                <a:cs typeface="+mn-cs"/>
              </a:rPr>
              <a:t>KEY ASSIGNMENTS</a:t>
            </a:r>
            <a:endParaRPr kumimoji="0" lang="fr-FR" sz="1300" b="1" i="0" u="none" strike="noStrike" kern="1200" cap="none" spc="0" normalizeH="0" baseline="0" noProof="0" dirty="0">
              <a:ln>
                <a:noFill/>
              </a:ln>
              <a:solidFill>
                <a:srgbClr val="098B98"/>
              </a:solidFill>
              <a:effectLst/>
              <a:uLnTx/>
              <a:uFillTx/>
              <a:latin typeface="Verdana"/>
              <a:ea typeface="+mn-ea"/>
              <a:cs typeface="+mn-cs"/>
            </a:endParaRPr>
          </a:p>
        </p:txBody>
      </p:sp>
      <p:cxnSp>
        <p:nvCxnSpPr>
          <p:cNvPr id="53" name="Connecteur droit 89">
            <a:extLst>
              <a:ext uri="{FF2B5EF4-FFF2-40B4-BE49-F238E27FC236}">
                <a16:creationId xmlns:a16="http://schemas.microsoft.com/office/drawing/2014/main" id="{D5F438F5-FDEC-4E30-948D-4D18C46EDEAC}"/>
              </a:ext>
            </a:extLst>
          </p:cNvPr>
          <p:cNvCxnSpPr>
            <a:cxnSpLocks/>
          </p:cNvCxnSpPr>
          <p:nvPr/>
        </p:nvCxnSpPr>
        <p:spPr>
          <a:xfrm>
            <a:off x="3826859" y="1200633"/>
            <a:ext cx="0" cy="5657367"/>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215731" y="57831"/>
            <a:ext cx="3569934" cy="491664"/>
          </a:xfrm>
        </p:spPr>
        <p:txBody>
          <a:bodyPr>
            <a:normAutofit/>
          </a:bodyPr>
          <a:lstStyle/>
          <a:p>
            <a:r>
              <a:rPr lang="en-GB" sz="2000" dirty="0">
                <a:solidFill>
                  <a:schemeClr val="bg1"/>
                </a:solidFill>
              </a:rPr>
              <a:t>Chappidi Gopi</a:t>
            </a:r>
          </a:p>
        </p:txBody>
      </p:sp>
      <p:sp>
        <p:nvSpPr>
          <p:cNvPr id="52" name="ZoneTexte 369">
            <a:extLst>
              <a:ext uri="{FF2B5EF4-FFF2-40B4-BE49-F238E27FC236}">
                <a16:creationId xmlns:a16="http://schemas.microsoft.com/office/drawing/2014/main" id="{B2287754-1B4F-4F65-A29C-0288B21E6890}"/>
              </a:ext>
            </a:extLst>
          </p:cNvPr>
          <p:cNvSpPr txBox="1"/>
          <p:nvPr/>
        </p:nvSpPr>
        <p:spPr>
          <a:xfrm rot="5400000">
            <a:off x="1758375" y="2440469"/>
            <a:ext cx="228332" cy="3792964"/>
          </a:xfrm>
          <a:prstGeom prst="round2SameRect">
            <a:avLst>
              <a:gd name="adj1" fmla="val 50000"/>
              <a:gd name="adj2" fmla="val 0"/>
            </a:avLst>
          </a:prstGeom>
          <a:solidFill>
            <a:schemeClr val="accent1"/>
          </a:solidFill>
        </p:spPr>
        <p:txBody>
          <a:bodyPr vert="vert270" wrap="square" bIns="360000" rtlCol="0" anchor="ctr">
            <a:noAutofit/>
          </a:bodyPr>
          <a:lstStyle/>
          <a:p>
            <a:pPr marL="0" marR="0" lvl="0" indent="0" algn="l" defTabSz="957756" rtl="0" eaLnBrk="1" fontAlgn="auto" latinLnBrk="0" hangingPunct="1">
              <a:lnSpc>
                <a:spcPct val="100000"/>
              </a:lnSpc>
              <a:spcBef>
                <a:spcPts val="0"/>
              </a:spcBef>
              <a:spcAft>
                <a:spcPts val="0"/>
              </a:spcAft>
              <a:buClr>
                <a:srgbClr val="FFFFFF"/>
              </a:buClr>
              <a:buSzTx/>
              <a:buFontTx/>
              <a:buNone/>
              <a:tabLst/>
              <a:defRPr/>
            </a:pPr>
            <a:r>
              <a:rPr kumimoji="0" lang="en-US" sz="11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Languages </a:t>
            </a:r>
          </a:p>
        </p:txBody>
      </p:sp>
      <p:sp>
        <p:nvSpPr>
          <p:cNvPr id="54" name="Content Placeholder 3">
            <a:extLst>
              <a:ext uri="{FF2B5EF4-FFF2-40B4-BE49-F238E27FC236}">
                <a16:creationId xmlns:a16="http://schemas.microsoft.com/office/drawing/2014/main" id="{9A3EEDBD-2000-4969-A5E0-553B1D7FD3E0}"/>
              </a:ext>
            </a:extLst>
          </p:cNvPr>
          <p:cNvSpPr txBox="1">
            <a:spLocks/>
          </p:cNvSpPr>
          <p:nvPr/>
        </p:nvSpPr>
        <p:spPr>
          <a:xfrm>
            <a:off x="102664" y="4391306"/>
            <a:ext cx="3161354" cy="365694"/>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171450" lvl="2" indent="-171450">
              <a:lnSpc>
                <a:spcPct val="100000"/>
              </a:lnSpc>
              <a:spcBef>
                <a:spcPts val="0"/>
              </a:spcBef>
              <a:spcAft>
                <a:spcPts val="0"/>
              </a:spcAft>
              <a:buClr>
                <a:srgbClr val="0070AD"/>
              </a:buClr>
              <a:buSzPct val="100000"/>
              <a:defRPr/>
            </a:pPr>
            <a:r>
              <a:rPr kumimoji="0" lang="en-IN" sz="1200" b="0" i="0" u="none" strike="noStrike" kern="1200" cap="none" spc="0" normalizeH="0" baseline="0" noProof="0" dirty="0">
                <a:ln>
                  <a:noFill/>
                </a:ln>
                <a:solidFill>
                  <a:srgbClr val="000000"/>
                </a:solidFill>
                <a:effectLst/>
                <a:uLnTx/>
                <a:uFillTx/>
                <a:latin typeface="WordVisi_MSFontService"/>
                <a:ea typeface="Segoe UI" panose="020B0502040204020203" pitchFamily="34" charset="0"/>
                <a:cs typeface="Segoe UI"/>
              </a:rPr>
              <a:t>English</a:t>
            </a:r>
            <a:r>
              <a:rPr lang="en-IN" sz="1200" dirty="0">
                <a:solidFill>
                  <a:srgbClr val="000000"/>
                </a:solidFill>
                <a:latin typeface="WordVisi_MSFontService"/>
                <a:ea typeface="Segoe UI" panose="020B0502040204020203" pitchFamily="34" charset="0"/>
                <a:cs typeface="Segoe UI"/>
              </a:rPr>
              <a:t> </a:t>
            </a:r>
            <a:endParaRPr lang="en-US" sz="1200" dirty="0">
              <a:latin typeface="WordVisi_MSFontService"/>
            </a:endParaRPr>
          </a:p>
          <a:p>
            <a:pPr marL="171450" marR="0" lvl="2" indent="-171450" algn="l" defTabSz="914400">
              <a:lnSpc>
                <a:spcPct val="100000"/>
              </a:lnSpc>
              <a:spcBef>
                <a:spcPts val="0"/>
              </a:spcBef>
              <a:spcAft>
                <a:spcPts val="0"/>
              </a:spcAft>
              <a:buClr>
                <a:srgbClr val="0070AD"/>
              </a:buClr>
              <a:buSzPct val="100000"/>
              <a:tabLst/>
              <a:defRPr/>
            </a:pPr>
            <a:r>
              <a:rPr lang="en-IN" sz="1200" dirty="0">
                <a:solidFill>
                  <a:srgbClr val="000000"/>
                </a:solidFill>
                <a:latin typeface="WordVisi_MSFontService"/>
                <a:ea typeface="Segoe UI" panose="020B0502040204020203" pitchFamily="34" charset="0"/>
                <a:cs typeface="Segoe UI"/>
              </a:rPr>
              <a:t>Hindi</a:t>
            </a:r>
            <a:endParaRPr lang="en-IN" sz="1200" b="0" i="0" u="none" strike="noStrike" kern="1200" cap="none" spc="0" normalizeH="0" baseline="0" noProof="0" dirty="0">
              <a:ln>
                <a:noFill/>
              </a:ln>
              <a:solidFill>
                <a:srgbClr val="000000"/>
              </a:solidFill>
              <a:effectLst/>
              <a:uLnTx/>
              <a:uFillTx/>
              <a:latin typeface="WordVisi_MSFontService"/>
              <a:ea typeface="Segoe UI" panose="020B0502040204020203" pitchFamily="34" charset="0"/>
              <a:cs typeface="Segoe UI"/>
            </a:endParaRPr>
          </a:p>
          <a:p>
            <a:pPr marL="0" lvl="2" indent="0">
              <a:lnSpc>
                <a:spcPct val="100000"/>
              </a:lnSpc>
              <a:spcBef>
                <a:spcPts val="0"/>
              </a:spcBef>
              <a:spcAft>
                <a:spcPts val="0"/>
              </a:spcAft>
              <a:buClr>
                <a:srgbClr val="0070AD"/>
              </a:buClr>
              <a:buSzPct val="100000"/>
              <a:buNone/>
              <a:defRPr/>
            </a:pPr>
            <a:endParaRPr lang="en-IN" sz="1000" dirty="0">
              <a:solidFill>
                <a:srgbClr val="000000"/>
              </a:solidFill>
              <a:latin typeface="Ubuntu" panose="020B0504030602030204" pitchFamily="34" charset="0"/>
              <a:ea typeface="Segoe UI" panose="020B0502040204020203" pitchFamily="34" charset="0"/>
              <a:cs typeface="Segoe UI"/>
            </a:endParaRPr>
          </a:p>
        </p:txBody>
      </p:sp>
      <p:sp>
        <p:nvSpPr>
          <p:cNvPr id="55" name="Rectangle 54"/>
          <p:cNvSpPr/>
          <p:nvPr/>
        </p:nvSpPr>
        <p:spPr>
          <a:xfrm>
            <a:off x="3832585" y="295444"/>
            <a:ext cx="4397358" cy="7289175"/>
          </a:xfrm>
          <a:prstGeom prst="rect">
            <a:avLst/>
          </a:prstGeom>
          <a:noFill/>
        </p:spPr>
        <p:txBody>
          <a:bodyPr wrap="square" lIns="91440" tIns="45720" rIns="91440" bIns="45720" anchor="t">
            <a:spAutoFit/>
          </a:bodyPr>
          <a:lstStyle/>
          <a:p>
            <a:pPr algn="just">
              <a:spcAft>
                <a:spcPts val="400"/>
              </a:spcAft>
            </a:pPr>
            <a:r>
              <a:rPr lang="en-US" sz="1400" b="1" dirty="0">
                <a:solidFill>
                  <a:schemeClr val="tx2"/>
                </a:solidFill>
                <a:latin typeface="Times New Roman" panose="02020603050405020304" pitchFamily="18" charset="0"/>
                <a:ea typeface="Calibri"/>
                <a:cs typeface="Times New Roman" panose="02020603050405020304" pitchFamily="18" charset="0"/>
              </a:rPr>
              <a:t>  Capgemini Technology Services India Limited. </a:t>
            </a:r>
          </a:p>
          <a:p>
            <a:pPr algn="just">
              <a:spcAft>
                <a:spcPts val="400"/>
              </a:spcAft>
            </a:pPr>
            <a:r>
              <a:rPr lang="en-IN" sz="1400" b="1" i="0" dirty="0">
                <a:solidFill>
                  <a:srgbClr val="000000"/>
                </a:solidFill>
                <a:effectLst/>
                <a:latin typeface="Times New Roman" panose="02020603050405020304" pitchFamily="18" charset="0"/>
                <a:cs typeface="Times New Roman" panose="02020603050405020304" pitchFamily="18" charset="0"/>
              </a:rPr>
              <a:t>  Professional </a:t>
            </a:r>
            <a:r>
              <a:rPr lang="en-IN" sz="1400" b="1" dirty="0">
                <a:solidFill>
                  <a:srgbClr val="000000"/>
                </a:solidFill>
                <a:latin typeface="Times New Roman" panose="02020603050405020304" pitchFamily="18" charset="0"/>
                <a:cs typeface="Times New Roman" panose="02020603050405020304" pitchFamily="18" charset="0"/>
              </a:rPr>
              <a:t>1</a:t>
            </a:r>
            <a:r>
              <a:rPr lang="en-IN" sz="1400" b="1" i="0" dirty="0">
                <a:solidFill>
                  <a:srgbClr val="000000"/>
                </a:solidFill>
                <a:effectLst/>
                <a:latin typeface="Times New Roman" panose="02020603050405020304" pitchFamily="18" charset="0"/>
                <a:cs typeface="Times New Roman" panose="02020603050405020304" pitchFamily="18" charset="0"/>
              </a:rPr>
              <a:t> </a:t>
            </a:r>
            <a:r>
              <a:rPr lang="en-US" sz="1400" b="1" i="1" dirty="0">
                <a:solidFill>
                  <a:srgbClr val="000000"/>
                </a:solidFill>
                <a:latin typeface="Times New Roman" panose="02020603050405020304" pitchFamily="18" charset="0"/>
                <a:ea typeface="+mn-lt"/>
                <a:cs typeface="Times New Roman" panose="02020603050405020304" pitchFamily="18" charset="0"/>
              </a:rPr>
              <a:t>– Software Engineer</a:t>
            </a:r>
            <a:r>
              <a:rPr lang="en-US" sz="1400" b="1" dirty="0">
                <a:solidFill>
                  <a:schemeClr val="tx2"/>
                </a:solidFill>
                <a:latin typeface="Times New Roman" panose="02020603050405020304" pitchFamily="18" charset="0"/>
                <a:ea typeface="Calibri"/>
                <a:cs typeface="Times New Roman" panose="02020603050405020304" pitchFamily="18" charset="0"/>
              </a:rPr>
              <a:t> (June 2022 – Till date)</a:t>
            </a:r>
            <a:r>
              <a:rPr lang="en-US" sz="1400" b="1" i="1" dirty="0">
                <a:solidFill>
                  <a:srgbClr val="000000"/>
                </a:solidFill>
                <a:latin typeface="Times New Roman" panose="02020603050405020304" pitchFamily="18" charset="0"/>
                <a:ea typeface="Calibri"/>
                <a:cs typeface="Times New Roman" panose="02020603050405020304" pitchFamily="18" charset="0"/>
              </a:rPr>
              <a:t> </a:t>
            </a:r>
            <a:endParaRPr lang="en-IN" sz="1400" b="1" dirty="0">
              <a:latin typeface="Times New Roman" panose="02020603050405020304" pitchFamily="18" charset="0"/>
              <a:cs typeface="Times New Roman" panose="02020603050405020304" pitchFamily="18" charset="0"/>
            </a:endParaRPr>
          </a:p>
          <a:p>
            <a:pPr marL="0" lvl="2">
              <a:spcBef>
                <a:spcPts val="100"/>
              </a:spcBef>
            </a:pPr>
            <a:r>
              <a:rPr lang="en-US" sz="14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CarPlay - Projection Technology.</a:t>
            </a:r>
            <a:endParaRPr lang="en-US" sz="1400" b="1" dirty="0">
              <a:solidFill>
                <a:srgbClr val="000000"/>
              </a:solidFill>
              <a:latin typeface="Times New Roman" panose="02020603050405020304" pitchFamily="18" charset="0"/>
              <a:ea typeface="Open Sans"/>
              <a:cs typeface="Times New Roman" panose="02020603050405020304" pitchFamily="18" charset="0"/>
            </a:endParaRPr>
          </a:p>
          <a:p>
            <a:pPr marL="0" lvl="2" algn="just">
              <a:spcBef>
                <a:spcPts val="100"/>
              </a:spcBef>
            </a:pPr>
            <a:r>
              <a:rPr lang="en-US" sz="1200" dirty="0">
                <a:solidFill>
                  <a:srgbClr val="000000"/>
                </a:solidFill>
                <a:effectLst/>
                <a:latin typeface="WordVisi_MSFontService"/>
                <a:ea typeface="Arial" panose="020B0604020202020204" pitchFamily="34" charset="0"/>
              </a:rPr>
              <a:t>In the automotive infotainment domain, Worked on projection technology over CarPlay. CarPlay is a feature inside iPhone, which allows phone apps to be displayed and controlled on car’s infotainment. Worked on how the CarPlay is connected to the car over USB and Wi-Fi. Worked on multiple features of CarPlay such as Media, Navigation, Call manager, Vehicle Interface, and Speech recognition.</a:t>
            </a:r>
          </a:p>
          <a:p>
            <a:pPr marL="0" lvl="2" algn="just">
              <a:spcBef>
                <a:spcPts val="100"/>
              </a:spcBef>
            </a:pPr>
            <a:endParaRPr lang="en-US" sz="1200" b="0" i="0" dirty="0">
              <a:solidFill>
                <a:srgbClr val="000000"/>
              </a:solidFill>
              <a:effectLst/>
              <a:latin typeface="WordVisi_MSFontService"/>
            </a:endParaRPr>
          </a:p>
          <a:p>
            <a:pPr marL="171450" lvl="1" indent="-171450" algn="just">
              <a:spcBef>
                <a:spcPts val="100"/>
              </a:spcBef>
              <a:buFont typeface="Arial,Sans-Serif"/>
              <a:buChar char="•"/>
            </a:pPr>
            <a:r>
              <a:rPr lang="en-US" sz="1200" b="0" i="0" dirty="0">
                <a:solidFill>
                  <a:srgbClr val="000000"/>
                </a:solidFill>
                <a:effectLst/>
                <a:latin typeface="WordVisi_MSFontService"/>
              </a:rPr>
              <a:t>Development of functionality and features related to CarPlay specifications.</a:t>
            </a:r>
          </a:p>
          <a:p>
            <a:pPr marL="171450" marR="0" lvl="1" indent="-171450" algn="just" defTabSz="914400" rtl="0" eaLnBrk="1" fontAlgn="base" latinLnBrk="0" hangingPunct="1">
              <a:lnSpc>
                <a:spcPts val="1457"/>
              </a:lnSpc>
              <a:spcBef>
                <a:spcPts val="100"/>
              </a:spcBef>
              <a:spcAft>
                <a:spcPts val="0"/>
              </a:spcAft>
              <a:buClrTx/>
              <a:buSzTx/>
              <a:buFont typeface="Arial"/>
              <a:buChar char="•"/>
              <a:tabLst/>
              <a:defRPr/>
            </a:pPr>
            <a:r>
              <a:rPr kumimoji="0" lang="en-US" sz="1200" b="0" i="0" u="none" strike="noStrike" kern="1200" cap="none" spc="0" normalizeH="0" baseline="0" noProof="0" dirty="0">
                <a:ln>
                  <a:noFill/>
                </a:ln>
                <a:solidFill>
                  <a:prstClr val="black"/>
                </a:solidFill>
                <a:effectLst/>
                <a:uLnTx/>
                <a:uFillTx/>
                <a:latin typeface="WordVisi_MSFontService"/>
                <a:ea typeface="Open Sans"/>
                <a:cs typeface="Times New Roman"/>
              </a:rPr>
              <a:t>Worked on CarPlay over both USB and wireless connections. </a:t>
            </a:r>
          </a:p>
          <a:p>
            <a:pPr marL="171450" lvl="1" indent="-171450" algn="just" fontAlgn="base">
              <a:lnSpc>
                <a:spcPts val="1457"/>
              </a:lnSpc>
              <a:spcBef>
                <a:spcPts val="100"/>
              </a:spcBef>
              <a:buFont typeface="Arial"/>
              <a:buChar char="•"/>
              <a:defRPr/>
            </a:pPr>
            <a:r>
              <a:rPr lang="en-US" sz="1200" dirty="0">
                <a:latin typeface="WordVisi_MSFontService"/>
                <a:ea typeface="Open Sans"/>
                <a:cs typeface="Times New Roman"/>
              </a:rPr>
              <a:t>Analyzed and understood system requirements. </a:t>
            </a:r>
          </a:p>
          <a:p>
            <a:pPr marL="171450" lvl="1" indent="-171450" algn="just" fontAlgn="base">
              <a:lnSpc>
                <a:spcPts val="1457"/>
              </a:lnSpc>
              <a:spcBef>
                <a:spcPts val="100"/>
              </a:spcBef>
              <a:buFont typeface="Arial"/>
              <a:buChar char="•"/>
              <a:defRPr/>
            </a:pPr>
            <a:r>
              <a:rPr lang="en-US" sz="1200" dirty="0">
                <a:latin typeface="WordVisi_MSFontService"/>
                <a:ea typeface="Open Sans"/>
                <a:cs typeface="Times New Roman"/>
              </a:rPr>
              <a:t>Managed and optimized wireless connectivity for improved stability and performance. </a:t>
            </a:r>
            <a:endParaRPr lang="en-US" sz="1200" b="0" i="0" dirty="0">
              <a:solidFill>
                <a:srgbClr val="000000"/>
              </a:solidFill>
              <a:effectLst/>
              <a:latin typeface="WordVisi_MSFontService"/>
            </a:endParaRPr>
          </a:p>
          <a:p>
            <a:pPr marL="171450" lvl="1" indent="-171450" algn="just">
              <a:spcBef>
                <a:spcPts val="100"/>
              </a:spcBef>
              <a:buFont typeface="Arial,Sans-Serif"/>
              <a:buChar char="•"/>
            </a:pPr>
            <a:r>
              <a:rPr lang="en-US" sz="1200" dirty="0">
                <a:solidFill>
                  <a:srgbClr val="000000"/>
                </a:solidFill>
                <a:latin typeface="WordVisi_MSFontService"/>
              </a:rPr>
              <a:t>Managed Change Requests effectively, finding bugs and implementing new features as required.</a:t>
            </a:r>
          </a:p>
          <a:p>
            <a:pPr marL="171450" lvl="1" indent="-171450" algn="just">
              <a:spcBef>
                <a:spcPts val="100"/>
              </a:spcBef>
              <a:buFont typeface="Arial,Sans-Serif"/>
              <a:buChar char="•"/>
            </a:pPr>
            <a:r>
              <a:rPr lang="en-US" sz="1200" dirty="0">
                <a:latin typeface="WordVisi_MSFontService"/>
                <a:ea typeface="Open Sans"/>
                <a:cs typeface="Times New Roman"/>
              </a:rPr>
              <a:t>Conducted DLT log analysis and debugging to identify and resolve system issues. </a:t>
            </a:r>
            <a:endParaRPr lang="en-US" sz="1200" dirty="0">
              <a:solidFill>
                <a:srgbClr val="000000"/>
              </a:solidFill>
              <a:latin typeface="WordVisi_MSFontService"/>
            </a:endParaRPr>
          </a:p>
          <a:p>
            <a:pPr marL="171450" lvl="1" indent="-171450" algn="just">
              <a:spcBef>
                <a:spcPts val="100"/>
              </a:spcBef>
              <a:buFont typeface="Arial,Sans-Serif"/>
              <a:buChar char="•"/>
            </a:pPr>
            <a:r>
              <a:rPr lang="en-US" sz="1200" b="0" i="0" dirty="0">
                <a:solidFill>
                  <a:srgbClr val="000000"/>
                </a:solidFill>
                <a:effectLst/>
                <a:latin typeface="WordVisi_MSFontService"/>
              </a:rPr>
              <a:t>Collaborated with cross-functional teams to gather and analyze requirements, ensuring alignment with project goals.</a:t>
            </a:r>
          </a:p>
          <a:p>
            <a:pPr marL="171450" lvl="1" indent="-171450" algn="just">
              <a:spcBef>
                <a:spcPts val="100"/>
              </a:spcBef>
              <a:buFont typeface="Arial,Sans-Serif"/>
              <a:buChar char="•"/>
            </a:pPr>
            <a:r>
              <a:rPr lang="en-US" sz="1200" dirty="0">
                <a:solidFill>
                  <a:srgbClr val="000000"/>
                </a:solidFill>
                <a:latin typeface="WordVisi_MSFontService"/>
                <a:ea typeface="Open Sans"/>
                <a:cs typeface="Times New Roman"/>
              </a:rPr>
              <a:t>Developed features related to CarPlay (Audio, Navigation, connection) .</a:t>
            </a:r>
          </a:p>
          <a:p>
            <a:pPr marL="171450" lvl="1" indent="-171450" algn="just">
              <a:spcBef>
                <a:spcPts val="100"/>
              </a:spcBef>
              <a:buFont typeface="Arial,Sans-Serif"/>
              <a:buChar char="•"/>
            </a:pPr>
            <a:r>
              <a:rPr lang="en-US" sz="1200" dirty="0">
                <a:solidFill>
                  <a:srgbClr val="000000"/>
                </a:solidFill>
                <a:latin typeface="WordVisi_MSFontService"/>
                <a:ea typeface="Open Sans"/>
                <a:cs typeface="Times New Roman"/>
              </a:rPr>
              <a:t>Perform unit testing to validate code functionality and reliability.</a:t>
            </a:r>
          </a:p>
          <a:p>
            <a:pPr marL="171450" lvl="1" indent="-171450" algn="just">
              <a:spcBef>
                <a:spcPts val="100"/>
              </a:spcBef>
              <a:buFont typeface="Arial,Sans-Serif"/>
              <a:buChar char="•"/>
            </a:pPr>
            <a:r>
              <a:rPr lang="en-US" sz="1200" dirty="0">
                <a:solidFill>
                  <a:srgbClr val="000000"/>
                </a:solidFill>
                <a:latin typeface="WordVisi_MSFontService"/>
                <a:ea typeface="Open Sans"/>
                <a:cs typeface="Times New Roman"/>
              </a:rPr>
              <a:t>Actively participated in planning meetings, contributing to strategic project decisions.</a:t>
            </a:r>
          </a:p>
          <a:p>
            <a:pPr marL="171450" lvl="1" indent="-171450" algn="just">
              <a:spcBef>
                <a:spcPts val="100"/>
              </a:spcBef>
              <a:buFont typeface="Arial,Sans-Serif"/>
              <a:buChar char="•"/>
            </a:pPr>
            <a:r>
              <a:rPr lang="fr-FR" sz="1200" dirty="0">
                <a:latin typeface="WordVisi_MSFontService"/>
                <a:ea typeface="Open Sans"/>
                <a:cs typeface="Open Sans"/>
              </a:rPr>
              <a:t>Worked on flashing CarPlay OS on Head Units using TUT tools.</a:t>
            </a:r>
          </a:p>
          <a:p>
            <a:pPr marL="171450" lvl="1" indent="-171450" algn="just">
              <a:spcBef>
                <a:spcPts val="100"/>
              </a:spcBef>
              <a:buFont typeface="Arial,Sans-Serif"/>
              <a:buChar char="•"/>
            </a:pPr>
            <a:r>
              <a:rPr lang="fr-FR" sz="1200" dirty="0">
                <a:latin typeface="WordVisi_MSFontService"/>
                <a:ea typeface="Open Sans"/>
                <a:cs typeface="Open Sans"/>
              </a:rPr>
              <a:t>Validated builds in collaboration with hardware and integration teams.</a:t>
            </a:r>
          </a:p>
          <a:p>
            <a:pPr marL="171450" lvl="1" indent="-171450" algn="just">
              <a:spcBef>
                <a:spcPts val="100"/>
              </a:spcBef>
              <a:buFont typeface="Arial,Sans-Serif"/>
              <a:buChar char="•"/>
            </a:pPr>
            <a:endParaRPr lang="fr-FR" sz="1200" dirty="0">
              <a:latin typeface="WordVisi_MSFontService"/>
              <a:ea typeface="Open Sans"/>
              <a:cs typeface="Open Sans"/>
            </a:endParaRPr>
          </a:p>
          <a:p>
            <a:pPr marL="171450" lvl="1" indent="-171450" algn="just">
              <a:spcBef>
                <a:spcPts val="100"/>
              </a:spcBef>
              <a:buFont typeface="Arial,Sans-Serif"/>
              <a:buChar char="•"/>
            </a:pPr>
            <a:endParaRPr lang="en-US" sz="1200" dirty="0">
              <a:solidFill>
                <a:srgbClr val="000000"/>
              </a:solidFill>
              <a:latin typeface="WordVisi_MSFontService"/>
              <a:ea typeface="Open Sans"/>
              <a:cs typeface="Times New Roman"/>
            </a:endParaRPr>
          </a:p>
          <a:p>
            <a:pPr marL="171450" lvl="1" indent="-171450" algn="just">
              <a:spcBef>
                <a:spcPts val="100"/>
              </a:spcBef>
              <a:buFont typeface="Arial,Sans-Serif"/>
              <a:buChar char="•"/>
            </a:pPr>
            <a:endParaRPr lang="en-IN" sz="1400" b="1" dirty="0">
              <a:solidFill>
                <a:srgbClr val="000000"/>
              </a:solidFill>
              <a:latin typeface="Times New Roman"/>
              <a:ea typeface="Open Sans"/>
              <a:cs typeface="Open Sans"/>
            </a:endParaRPr>
          </a:p>
          <a:p>
            <a:pPr marL="0" lvl="2"/>
            <a:r>
              <a:rPr lang="en-IN" sz="1400" b="1" dirty="0">
                <a:solidFill>
                  <a:srgbClr val="000000"/>
                </a:solidFill>
                <a:latin typeface="Times New Roman"/>
                <a:ea typeface="Open Sans"/>
                <a:cs typeface="Open Sans"/>
              </a:rPr>
              <a:t> </a:t>
            </a:r>
            <a:endParaRPr lang="en-US" sz="1200" dirty="0">
              <a:solidFill>
                <a:srgbClr val="000000"/>
              </a:solidFill>
              <a:latin typeface="Ubuntu" panose="020B0504030602030204" pitchFamily="34" charset="0"/>
              <a:ea typeface="Open Sans"/>
              <a:cs typeface="Times New Roman"/>
            </a:endParaRPr>
          </a:p>
        </p:txBody>
      </p:sp>
      <p:sp>
        <p:nvSpPr>
          <p:cNvPr id="8" name="Rectangle 7"/>
          <p:cNvSpPr/>
          <p:nvPr/>
        </p:nvSpPr>
        <p:spPr>
          <a:xfrm>
            <a:off x="8376765" y="2722180"/>
            <a:ext cx="184731" cy="275460"/>
          </a:xfrm>
          <a:prstGeom prst="rect">
            <a:avLst/>
          </a:prstGeom>
        </p:spPr>
        <p:txBody>
          <a:bodyPr wrap="none">
            <a:spAutoFit/>
          </a:bodyPr>
          <a:lstStyle/>
          <a:p>
            <a:pPr defTabSz="957756">
              <a:lnSpc>
                <a:spcPct val="85000"/>
              </a:lnSpc>
              <a:spcBef>
                <a:spcPct val="30000"/>
              </a:spcBef>
              <a:buClr>
                <a:srgbClr val="A50021"/>
              </a:buClr>
              <a:buSzPct val="80000"/>
            </a:pPr>
            <a:endParaRPr lang="en-US" sz="1400" b="1">
              <a:solidFill>
                <a:srgbClr val="098B98"/>
              </a:solidFill>
              <a:latin typeface="Verdana"/>
            </a:endParaRPr>
          </a:p>
        </p:txBody>
      </p:sp>
      <p:sp>
        <p:nvSpPr>
          <p:cNvPr id="5" name="TextBox 4">
            <a:extLst>
              <a:ext uri="{FF2B5EF4-FFF2-40B4-BE49-F238E27FC236}">
                <a16:creationId xmlns:a16="http://schemas.microsoft.com/office/drawing/2014/main" id="{9A017121-7FDF-13C1-2B1D-FCF133708759}"/>
              </a:ext>
            </a:extLst>
          </p:cNvPr>
          <p:cNvSpPr txBox="1"/>
          <p:nvPr/>
        </p:nvSpPr>
        <p:spPr>
          <a:xfrm>
            <a:off x="8229943" y="57831"/>
            <a:ext cx="3962057" cy="6750566"/>
          </a:xfrm>
          <a:prstGeom prst="rect">
            <a:avLst/>
          </a:prstGeom>
          <a:noFill/>
        </p:spPr>
        <p:txBody>
          <a:bodyPr wrap="square" lIns="91440" tIns="45720" rIns="91440" bIns="45720" anchor="t">
            <a:spAutoFit/>
          </a:bodyPr>
          <a:lstStyle/>
          <a:p>
            <a:pPr marL="0" lvl="2">
              <a:spcBef>
                <a:spcPts val="100"/>
              </a:spcBef>
            </a:pPr>
            <a:r>
              <a:rPr lang="en-US" sz="14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Bhilwara Infotechnology Ltd </a:t>
            </a:r>
            <a:r>
              <a:rPr lang="en-US" sz="1400" b="1" dirty="0">
                <a:solidFill>
                  <a:srgbClr val="000000"/>
                </a:solidFill>
                <a:latin typeface="Times New Roman" panose="02020603050405020304" pitchFamily="18" charset="0"/>
                <a:ea typeface="Arial" panose="020B0604020202020204" pitchFamily="34" charset="0"/>
                <a:cs typeface="Times New Roman" panose="02020603050405020304" pitchFamily="18" charset="0"/>
              </a:rPr>
              <a:t>- (Jan 2021 to June 2022)</a:t>
            </a:r>
            <a:endParaRPr lang="en-US" sz="14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endParaRPr>
          </a:p>
          <a:p>
            <a:pPr marL="0" lvl="2">
              <a:spcBef>
                <a:spcPts val="100"/>
              </a:spcBef>
            </a:pPr>
            <a:r>
              <a:rPr lang="en-US" sz="1400" b="1"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Finacle WMS (Finacle Wealth Management System - Core Banking product).</a:t>
            </a:r>
          </a:p>
          <a:p>
            <a:pPr marL="0" lvl="2" algn="just">
              <a:spcBef>
                <a:spcPts val="100"/>
              </a:spcBef>
            </a:pPr>
            <a:r>
              <a:rPr lang="en-US" sz="1200" dirty="0">
                <a:solidFill>
                  <a:schemeClr val="tx2"/>
                </a:solidFill>
                <a:latin typeface="WordVisi_MSFontService"/>
                <a:ea typeface="Calibri"/>
                <a:cs typeface="Calibri"/>
              </a:rPr>
              <a:t>Finacle is a core banking product developed by a service company that provides universal digital banking solutions to banks. Finacle helps traditional and emerging financial institutions drive digital transformation to achieve frictionless customer experiences, large eco system play, insight driven interactions and ubiquitous automation. </a:t>
            </a:r>
          </a:p>
          <a:p>
            <a:pPr marL="171450" lvl="1" indent="-171450" algn="just" fontAlgn="base">
              <a:lnSpc>
                <a:spcPts val="1552"/>
              </a:lnSpc>
              <a:spcBef>
                <a:spcPts val="100"/>
              </a:spcBef>
              <a:buFont typeface="Arial" panose="020B0604020202020204" pitchFamily="34" charset="0"/>
              <a:buChar char="•"/>
            </a:pPr>
            <a:r>
              <a:rPr lang="en-US" sz="1200" dirty="0">
                <a:solidFill>
                  <a:schemeClr val="tx2"/>
                </a:solidFill>
                <a:latin typeface="WordVisi_MSFontService"/>
                <a:ea typeface="Calibri"/>
                <a:cs typeface="Calibri"/>
              </a:rPr>
              <a:t>Involved in the new future implementation/Enhancement writing xml/html/htm files to design bank application and java code for processing the data from frontend to backend, backend using C, C++ and Oracle SQL DB query. </a:t>
            </a:r>
          </a:p>
          <a:p>
            <a:pPr marL="171450" lvl="1" indent="-171450" algn="just" fontAlgn="base">
              <a:lnSpc>
                <a:spcPts val="1552"/>
              </a:lnSpc>
              <a:spcBef>
                <a:spcPts val="100"/>
              </a:spcBef>
              <a:buFont typeface="Arial" panose="020B0604020202020204" pitchFamily="34" charset="0"/>
              <a:buChar char="•"/>
            </a:pPr>
            <a:r>
              <a:rPr lang="en-US" sz="1200" dirty="0">
                <a:solidFill>
                  <a:schemeClr val="tx2"/>
                </a:solidFill>
                <a:latin typeface="WordVisi_MSFontService"/>
                <a:ea typeface="Calibri"/>
                <a:cs typeface="Calibri"/>
              </a:rPr>
              <a:t>Analize/understand the front-End issues in the console of the browser using ctl+shift+i and rectify the java script errors.</a:t>
            </a:r>
          </a:p>
          <a:p>
            <a:pPr marL="171450" lvl="1" indent="-171450" algn="just" fontAlgn="base">
              <a:lnSpc>
                <a:spcPts val="1552"/>
              </a:lnSpc>
              <a:spcBef>
                <a:spcPts val="100"/>
              </a:spcBef>
              <a:buFont typeface="Arial" panose="020B0604020202020204" pitchFamily="34" charset="0"/>
              <a:buChar char="•"/>
            </a:pPr>
            <a:r>
              <a:rPr lang="en-US" sz="1200" dirty="0">
                <a:solidFill>
                  <a:schemeClr val="tx2"/>
                </a:solidFill>
                <a:latin typeface="WordVisi_MSFontService"/>
                <a:ea typeface="Calibri"/>
                <a:cs typeface="Calibri"/>
              </a:rPr>
              <a:t>Writing C code for modules to validate and process data to DB.</a:t>
            </a:r>
          </a:p>
          <a:p>
            <a:pPr marL="171450" lvl="1" indent="-171450" algn="just" fontAlgn="base">
              <a:lnSpc>
                <a:spcPts val="1552"/>
              </a:lnSpc>
              <a:spcBef>
                <a:spcPts val="100"/>
              </a:spcBef>
              <a:buFont typeface="Arial" panose="020B0604020202020204" pitchFamily="34" charset="0"/>
              <a:buChar char="•"/>
            </a:pPr>
            <a:r>
              <a:rPr lang="en-US" sz="1200" dirty="0">
                <a:solidFill>
                  <a:schemeClr val="tx2"/>
                </a:solidFill>
                <a:latin typeface="WordVisi_MSFontService"/>
                <a:ea typeface="Calibri"/>
                <a:cs typeface="Calibri"/>
              </a:rPr>
              <a:t>Analize the log files to understand the backend issue (C and DB errors) and rectify it.</a:t>
            </a:r>
          </a:p>
          <a:p>
            <a:pPr marL="171450" lvl="1" indent="-171450" algn="just" fontAlgn="base">
              <a:lnSpc>
                <a:spcPts val="1552"/>
              </a:lnSpc>
              <a:spcBef>
                <a:spcPts val="100"/>
              </a:spcBef>
              <a:buFont typeface="Arial" panose="020B0604020202020204" pitchFamily="34" charset="0"/>
              <a:buChar char="•"/>
            </a:pPr>
            <a:r>
              <a:rPr lang="en-US" sz="1200" dirty="0">
                <a:solidFill>
                  <a:schemeClr val="tx2"/>
                </a:solidFill>
                <a:latin typeface="WordVisi_MSFontService"/>
                <a:ea typeface="Calibri"/>
                <a:cs typeface="Calibri"/>
              </a:rPr>
              <a:t>Involved in Defects/bug fixing on ONS/UPLOAD/INQUIRY menu's using Firestone and CLM tools.</a:t>
            </a:r>
          </a:p>
          <a:p>
            <a:pPr marL="0" lvl="1" algn="just" fontAlgn="base">
              <a:lnSpc>
                <a:spcPts val="1552"/>
              </a:lnSpc>
              <a:spcBef>
                <a:spcPts val="100"/>
              </a:spcBef>
            </a:pPr>
            <a:r>
              <a:rPr lang="en-US" sz="1400" b="1" dirty="0">
                <a:solidFill>
                  <a:schemeClr val="tx2"/>
                </a:solidFill>
                <a:latin typeface="Times New Roman" panose="02020603050405020304" pitchFamily="18" charset="0"/>
                <a:ea typeface="Calibri"/>
                <a:cs typeface="Times New Roman" panose="02020603050405020304" pitchFamily="18" charset="0"/>
              </a:rPr>
              <a:t>Magna Infotech(A Division of Quess Crop Limited) - </a:t>
            </a: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(Aug 2019 to Jul 2020 )</a:t>
            </a:r>
            <a:endParaRPr lang="en-US" sz="1400" b="1" dirty="0">
              <a:solidFill>
                <a:srgbClr val="000000"/>
              </a:solidFill>
              <a:latin typeface="Times New Roman" panose="02020603050405020304" pitchFamily="18" charset="0"/>
              <a:ea typeface="Open Sans"/>
              <a:cs typeface="Times New Roman" panose="02020603050405020304" pitchFamily="18" charset="0"/>
            </a:endParaRPr>
          </a:p>
          <a:p>
            <a:r>
              <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rPr>
              <a:t>SAP GUI for Windows.</a:t>
            </a:r>
          </a:p>
          <a:p>
            <a:r>
              <a:rPr lang="en-US" sz="1200" dirty="0">
                <a:solidFill>
                  <a:srgbClr val="000000"/>
                </a:solidFill>
                <a:latin typeface="WordVisi_MSFontService"/>
                <a:ea typeface="Open Sans"/>
                <a:cs typeface="Open Sans"/>
              </a:rPr>
              <a:t>SAP GUI will support’s SAP GUI for windows, SAP GUI for Java and SAP GUI for HTML,I am a Part of SAP GUI for windows, it having multiple controls, In that I am working on HTML Control and Calendar Control, these controls working with both backend code (ABAP) and Frontend code (MFC VC++), I have working on support (message processing) work and code fixes for both controls.</a:t>
            </a:r>
          </a:p>
        </p:txBody>
      </p:sp>
      <p:sp>
        <p:nvSpPr>
          <p:cNvPr id="7" name="TextBox 6">
            <a:extLst>
              <a:ext uri="{FF2B5EF4-FFF2-40B4-BE49-F238E27FC236}">
                <a16:creationId xmlns:a16="http://schemas.microsoft.com/office/drawing/2014/main" id="{6FEF3B96-2B10-440F-B32B-11F40153B99C}"/>
              </a:ext>
            </a:extLst>
          </p:cNvPr>
          <p:cNvSpPr txBox="1"/>
          <p:nvPr/>
        </p:nvSpPr>
        <p:spPr>
          <a:xfrm>
            <a:off x="-314209" y="3982092"/>
            <a:ext cx="4373499" cy="276999"/>
          </a:xfrm>
          <a:prstGeom prst="rect">
            <a:avLst/>
          </a:prstGeom>
          <a:noFill/>
        </p:spPr>
        <p:txBody>
          <a:bodyPr wrap="square" lIns="91440" tIns="45720" rIns="91440" bIns="45720" rtlCol="0" anchor="t">
            <a:spAutoFit/>
          </a:bodyPr>
          <a:lstStyle/>
          <a:p>
            <a:pPr marL="628650" lvl="1" indent="-171450">
              <a:buFont typeface="Arial"/>
              <a:buChar char="•"/>
              <a:tabLst>
                <a:tab pos="457200" algn="l"/>
              </a:tabLst>
            </a:pPr>
            <a:r>
              <a:rPr lang="en-IN" sz="1200" b="0" dirty="0">
                <a:solidFill>
                  <a:srgbClr val="111111"/>
                </a:solidFill>
                <a:effectLst/>
                <a:latin typeface="WordVisi_MSFontService"/>
              </a:rPr>
              <a:t>M.Tech/Masters of Technology</a:t>
            </a:r>
            <a:r>
              <a:rPr lang="en-US" sz="1200" b="0" dirty="0">
                <a:solidFill>
                  <a:srgbClr val="111111"/>
                </a:solidFill>
                <a:effectLst/>
                <a:latin typeface="WordVisi_MSFontService"/>
                <a:cs typeface="Times New Roman"/>
              </a:rPr>
              <a:t> (</a:t>
            </a:r>
            <a:r>
              <a:rPr lang="en-IN" sz="1200" b="0" dirty="0">
                <a:solidFill>
                  <a:srgbClr val="111111"/>
                </a:solidFill>
                <a:effectLst/>
                <a:latin typeface="WordVisi_MSFontService"/>
              </a:rPr>
              <a:t>Embedded Systems</a:t>
            </a:r>
            <a:r>
              <a:rPr lang="en-IN" sz="1200" dirty="0">
                <a:solidFill>
                  <a:srgbClr val="111111"/>
                </a:solidFill>
                <a:latin typeface="WordVisi_MSFontService"/>
              </a:rPr>
              <a:t>)</a:t>
            </a:r>
            <a:endParaRPr lang="en-IN" sz="1200" b="0" dirty="0">
              <a:solidFill>
                <a:srgbClr val="111111"/>
              </a:solidFill>
              <a:effectLst/>
              <a:latin typeface="WordVisi_MSFontService"/>
            </a:endParaRPr>
          </a:p>
        </p:txBody>
      </p:sp>
      <p:sp>
        <p:nvSpPr>
          <p:cNvPr id="9" name="Rectangle 8">
            <a:extLst>
              <a:ext uri="{FF2B5EF4-FFF2-40B4-BE49-F238E27FC236}">
                <a16:creationId xmlns:a16="http://schemas.microsoft.com/office/drawing/2014/main" id="{0793B842-149B-E027-8E0C-60D198047054}"/>
              </a:ext>
            </a:extLst>
          </p:cNvPr>
          <p:cNvSpPr/>
          <p:nvPr/>
        </p:nvSpPr>
        <p:spPr>
          <a:xfrm>
            <a:off x="88283" y="5705045"/>
            <a:ext cx="3792965" cy="1015663"/>
          </a:xfrm>
          <a:prstGeom prst="rect">
            <a:avLst/>
          </a:prstGeom>
        </p:spPr>
        <p:txBody>
          <a:bodyPr wrap="square" lIns="91440" tIns="45720" rIns="91440" bIns="45720" anchor="t">
            <a:spAutoFit/>
          </a:bodyPr>
          <a:lstStyle/>
          <a:p>
            <a:pPr marL="171450" lvl="2" indent="-171450">
              <a:buFont typeface="Arial"/>
              <a:buChar char="•"/>
              <a:tabLst>
                <a:tab pos="6464300" algn="r"/>
              </a:tabLst>
              <a:defRPr/>
            </a:pPr>
            <a:r>
              <a:rPr lang="en-US" sz="1200" dirty="0">
                <a:solidFill>
                  <a:srgbClr val="000000"/>
                </a:solidFill>
                <a:latin typeface="WordVisi_MSFontService"/>
                <a:ea typeface="Open Sans"/>
                <a:cs typeface="Open Sans"/>
              </a:rPr>
              <a:t>Strong Knowledge on C, C++ 11, C++14 and C++17.</a:t>
            </a:r>
          </a:p>
          <a:p>
            <a:pPr marL="171450" lvl="2" indent="-171450">
              <a:buFont typeface="Arial"/>
              <a:buChar char="•"/>
              <a:tabLst>
                <a:tab pos="6464300" algn="r"/>
              </a:tabLst>
              <a:defRPr/>
            </a:pPr>
            <a:r>
              <a:rPr lang="en-US" sz="1200" dirty="0">
                <a:solidFill>
                  <a:srgbClr val="000000"/>
                </a:solidFill>
                <a:latin typeface="WordVisi_MSFontService"/>
                <a:ea typeface="Open Sans"/>
                <a:cs typeface="Open Sans"/>
              </a:rPr>
              <a:t>Known C#, Core Java, Python, MySQL and Embedded C.</a:t>
            </a:r>
            <a:endParaRPr lang="en-US" sz="1200" dirty="0">
              <a:latin typeface="WordVisi_MSFontService"/>
              <a:ea typeface="Open Sans"/>
              <a:cs typeface="Open Sans"/>
            </a:endParaRPr>
          </a:p>
          <a:p>
            <a:pPr marL="171450" lvl="2" indent="-171450">
              <a:buFont typeface="Arial"/>
              <a:buChar char="•"/>
              <a:tabLst>
                <a:tab pos="6464300" algn="r"/>
              </a:tabLst>
              <a:defRPr/>
            </a:pPr>
            <a:r>
              <a:rPr lang="en-US" sz="1200" dirty="0">
                <a:latin typeface="WordVisi_MSFontService"/>
                <a:ea typeface="Open Sans"/>
                <a:cs typeface="Open Sans"/>
              </a:rPr>
              <a:t>Linux, Windows operating Systems.</a:t>
            </a:r>
          </a:p>
          <a:p>
            <a:pPr marL="171450" lvl="2" indent="-171450">
              <a:buFont typeface="Arial"/>
              <a:buChar char="•"/>
              <a:tabLst>
                <a:tab pos="6464300" algn="r"/>
              </a:tabLst>
              <a:defRPr/>
            </a:pPr>
            <a:r>
              <a:rPr lang="en-US" sz="1200" dirty="0">
                <a:latin typeface="WordVisi_MSFontService"/>
                <a:ea typeface="Open Sans"/>
                <a:cs typeface="Open Sans"/>
              </a:rPr>
              <a:t>Visual Studio MFC VC++, DLT Viewer, GIT, Github, GDB, Val grind, QT Creator, SVN, Ubuntu, Elvis.</a:t>
            </a:r>
          </a:p>
        </p:txBody>
      </p:sp>
      <p:sp>
        <p:nvSpPr>
          <p:cNvPr id="2" name="ZoneTexte 369">
            <a:extLst>
              <a:ext uri="{FF2B5EF4-FFF2-40B4-BE49-F238E27FC236}">
                <a16:creationId xmlns:a16="http://schemas.microsoft.com/office/drawing/2014/main" id="{E7BBB39A-3864-F489-1209-7CF1E9EE25EF}"/>
              </a:ext>
            </a:extLst>
          </p:cNvPr>
          <p:cNvSpPr txBox="1"/>
          <p:nvPr/>
        </p:nvSpPr>
        <p:spPr>
          <a:xfrm rot="5400000">
            <a:off x="1749683" y="3709213"/>
            <a:ext cx="263776" cy="3792964"/>
          </a:xfrm>
          <a:prstGeom prst="round2SameRect">
            <a:avLst>
              <a:gd name="adj1" fmla="val 50000"/>
              <a:gd name="adj2" fmla="val 0"/>
            </a:avLst>
          </a:prstGeom>
          <a:solidFill>
            <a:schemeClr val="accent1"/>
          </a:solidFill>
        </p:spPr>
        <p:txBody>
          <a:bodyPr vert="vert270" wrap="square" bIns="360000" numCol="1" rtlCol="0" anchor="ctr">
            <a:noAutofit/>
          </a:bodyPr>
          <a:lstStyle/>
          <a:p>
            <a:pPr marL="0" lvl="2" fontAlgn="base">
              <a:lnSpc>
                <a:spcPct val="150000"/>
              </a:lnSpc>
              <a:buClr>
                <a:srgbClr val="0070AD"/>
              </a:buClr>
              <a:buSzPct val="100000"/>
              <a:tabLst>
                <a:tab pos="6464300" algn="r"/>
              </a:tabLst>
              <a:defRPr/>
            </a:pPr>
            <a:r>
              <a:rPr lang="fr-FR" sz="1100" b="1" dirty="0">
                <a:solidFill>
                  <a:prstClr val="white"/>
                </a:solidFill>
                <a:latin typeface="Open Sans" panose="020B0606030504020204" pitchFamily="34" charset="0"/>
                <a:ea typeface="Open Sans" panose="020B0606030504020204" pitchFamily="34" charset="0"/>
                <a:cs typeface="Open Sans" panose="020B0606030504020204" pitchFamily="34" charset="0"/>
              </a:rPr>
              <a:t>Key</a:t>
            </a:r>
            <a:r>
              <a:rPr lang="fr-FR" sz="1100" b="1" dirty="0">
                <a:latin typeface="Ubuntu"/>
                <a:ea typeface="Open Sans"/>
                <a:cs typeface="Open Sans"/>
              </a:rPr>
              <a:t> </a:t>
            </a:r>
            <a:r>
              <a:rPr lang="fr-FR" sz="1100" b="1" dirty="0">
                <a:solidFill>
                  <a:prstClr val="white"/>
                </a:solidFill>
                <a:latin typeface="Open Sans" panose="020B0606030504020204" pitchFamily="34" charset="0"/>
                <a:ea typeface="Open Sans" panose="020B0606030504020204" pitchFamily="34" charset="0"/>
                <a:cs typeface="Open Sans" panose="020B0606030504020204" pitchFamily="34" charset="0"/>
              </a:rPr>
              <a:t>Skills</a:t>
            </a:r>
            <a:endParaRPr lang="en-US" sz="1100" b="1"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0" name="Picture 9" descr="A person with a beard and mustache&#10;&#10;AI-generated content may be incorrect.">
            <a:extLst>
              <a:ext uri="{FF2B5EF4-FFF2-40B4-BE49-F238E27FC236}">
                <a16:creationId xmlns:a16="http://schemas.microsoft.com/office/drawing/2014/main" id="{562FF5D8-8057-0D6D-738A-D10C0B2ACEE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5087" y="364664"/>
            <a:ext cx="1416554" cy="1265737"/>
          </a:xfrm>
          <a:prstGeom prst="rect">
            <a:avLst/>
          </a:prstGeom>
        </p:spPr>
      </p:pic>
      <p:sp>
        <p:nvSpPr>
          <p:cNvPr id="3" name="ZoneTexte 358">
            <a:extLst>
              <a:ext uri="{FF2B5EF4-FFF2-40B4-BE49-F238E27FC236}">
                <a16:creationId xmlns:a16="http://schemas.microsoft.com/office/drawing/2014/main" id="{51539306-1F3A-D523-D9F3-6D332B397329}"/>
              </a:ext>
            </a:extLst>
          </p:cNvPr>
          <p:cNvSpPr txBox="1"/>
          <p:nvPr/>
        </p:nvSpPr>
        <p:spPr>
          <a:xfrm rot="5400000">
            <a:off x="1753601" y="1103150"/>
            <a:ext cx="237880" cy="3792964"/>
          </a:xfrm>
          <a:prstGeom prst="round2SameRect">
            <a:avLst>
              <a:gd name="adj1" fmla="val 50000"/>
              <a:gd name="adj2" fmla="val 0"/>
            </a:avLst>
          </a:prstGeom>
          <a:solidFill>
            <a:schemeClr val="accent1"/>
          </a:solidFill>
        </p:spPr>
        <p:txBody>
          <a:bodyPr vert="vert270" wrap="square" bIns="360000" rtlCol="0" anchor="ctr">
            <a:noAutofit/>
          </a:bodyPr>
          <a:lstStyle/>
          <a:p>
            <a:pPr marL="0" marR="0" lvl="0" indent="0" algn="l" defTabSz="957756" rtl="0" eaLnBrk="1" fontAlgn="auto" latinLnBrk="0" hangingPunct="1">
              <a:lnSpc>
                <a:spcPct val="100000"/>
              </a:lnSpc>
              <a:spcBef>
                <a:spcPts val="0"/>
              </a:spcBef>
              <a:spcAft>
                <a:spcPts val="0"/>
              </a:spcAft>
              <a:buClr>
                <a:srgbClr val="FFFFFF"/>
              </a:buClr>
              <a:buSzTx/>
              <a:buFontTx/>
              <a:buNone/>
              <a:tabLst/>
              <a:defRPr/>
            </a:pPr>
            <a:r>
              <a:rPr kumimoji="0" lang="en-US" sz="1100" b="1" i="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Personal Details</a:t>
            </a:r>
          </a:p>
        </p:txBody>
      </p:sp>
      <p:sp>
        <p:nvSpPr>
          <p:cNvPr id="11" name="Content Placeholder 3">
            <a:extLst>
              <a:ext uri="{FF2B5EF4-FFF2-40B4-BE49-F238E27FC236}">
                <a16:creationId xmlns:a16="http://schemas.microsoft.com/office/drawing/2014/main" id="{EFE412F2-9E8C-D3CE-2EE1-05FCBA266C06}"/>
              </a:ext>
            </a:extLst>
          </p:cNvPr>
          <p:cNvSpPr txBox="1">
            <a:spLocks/>
          </p:cNvSpPr>
          <p:nvPr/>
        </p:nvSpPr>
        <p:spPr>
          <a:xfrm>
            <a:off x="162480" y="3087739"/>
            <a:ext cx="3161354" cy="365694"/>
          </a:xfrm>
          <a:prstGeom prst="rect">
            <a:avLst/>
          </a:prstGeom>
          <a:noFill/>
          <a:ln w="12700" cap="flat" cmpd="sng" algn="ctr">
            <a:noFill/>
            <a:prstDash val="solid"/>
            <a:miter lim="800000"/>
          </a:ln>
        </p:spPr>
        <p:style>
          <a:lnRef idx="2">
            <a:schemeClr val="accent1"/>
          </a:lnRef>
          <a:fillRef idx="1">
            <a:schemeClr val="lt1"/>
          </a:fillRef>
          <a:effectRef idx="0">
            <a:schemeClr val="accent1"/>
          </a:effectRef>
          <a:fontRef idx="none"/>
        </p:style>
        <p:txBody>
          <a:bodyPr vert="horz" lIns="108000" tIns="72000" rIns="72000" bIns="72000" rtlCol="0" anchor="t">
            <a:noAutofit/>
          </a:bodyPr>
          <a:lstStyle>
            <a:lvl1pPr marL="114300" indent="-114300" algn="l" defTabSz="914400" rtl="0" eaLnBrk="1" latinLnBrk="0" hangingPunct="1">
              <a:lnSpc>
                <a:spcPct val="90000"/>
              </a:lnSpc>
              <a:spcBef>
                <a:spcPts val="1000"/>
              </a:spcBef>
              <a:spcAft>
                <a:spcPts val="200"/>
              </a:spcAft>
              <a:buFont typeface="Arial" panose="020B0604020202020204" pitchFamily="34" charset="0"/>
              <a:buNone/>
              <a:defRPr sz="10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282575" indent="-122238" algn="l" defTabSz="914400" rtl="0" eaLnBrk="1" latinLnBrk="0" hangingPunct="1">
              <a:lnSpc>
                <a:spcPct val="90000"/>
              </a:lnSpc>
              <a:spcBef>
                <a:spcPts val="500"/>
              </a:spcBef>
              <a:spcAft>
                <a:spcPts val="200"/>
              </a:spcAft>
              <a:buClr>
                <a:schemeClr val="accent2"/>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457200" indent="-114300" algn="l" defTabSz="914400" rtl="0" eaLnBrk="1" latinLnBrk="0" hangingPunct="1">
              <a:lnSpc>
                <a:spcPct val="90000"/>
              </a:lnSpc>
              <a:spcBef>
                <a:spcPts val="500"/>
              </a:spcBef>
              <a:spcAft>
                <a:spcPts val="200"/>
              </a:spcAft>
              <a:buClr>
                <a:schemeClr val="accent4"/>
              </a:buClr>
              <a:buFont typeface="Arial" panose="020B0604020202020204" pitchFamily="34" charset="0"/>
              <a:buChar char="•"/>
              <a:defRPr sz="900" kern="120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3pPr>
            <a:lvl4pPr marL="631825" indent="-120650" algn="l" defTabSz="914400" rtl="0" eaLnBrk="1" latinLnBrk="0" hangingPunct="1">
              <a:lnSpc>
                <a:spcPct val="90000"/>
              </a:lnSpc>
              <a:spcBef>
                <a:spcPts val="500"/>
              </a:spcBef>
              <a:spcAft>
                <a:spcPts val="200"/>
              </a:spcAft>
              <a:buClr>
                <a:schemeClr val="accent5"/>
              </a:buClr>
              <a:buFont typeface="Arial" panose="020B0604020202020204" pitchFamily="34" charset="0"/>
              <a:buChar char="•"/>
              <a:defRPr sz="9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4pPr>
            <a:lvl5pPr marL="715963" indent="-174625" algn="l" defTabSz="914400" rtl="0" eaLnBrk="1" latinLnBrk="0" hangingPunct="1">
              <a:lnSpc>
                <a:spcPct val="90000"/>
              </a:lnSpc>
              <a:spcBef>
                <a:spcPts val="500"/>
              </a:spcBef>
              <a:buClr>
                <a:schemeClr val="bg1">
                  <a:lumMod val="50000"/>
                </a:schemeClr>
              </a:buClr>
              <a:buFont typeface="Arial" panose="020B0604020202020204" pitchFamily="34" charset="0"/>
              <a:buChar char="•"/>
              <a:defRPr sz="1200" kern="1200" baseline="0">
                <a:solidFill>
                  <a:schemeClr val="tx2">
                    <a:lumMod val="50000"/>
                  </a:schemeClr>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171450" lvl="2" indent="-171450">
              <a:lnSpc>
                <a:spcPct val="100000"/>
              </a:lnSpc>
              <a:spcBef>
                <a:spcPts val="0"/>
              </a:spcBef>
              <a:spcAft>
                <a:spcPts val="0"/>
              </a:spcAft>
              <a:buClr>
                <a:srgbClr val="0070AD"/>
              </a:buClr>
              <a:buSzPct val="100000"/>
              <a:defRPr/>
            </a:pPr>
            <a:r>
              <a:rPr lang="en-IN" sz="1200" b="1" dirty="0">
                <a:latin typeface="Segoe UI" panose="020B0502040204020203" pitchFamily="34" charset="0"/>
              </a:rPr>
              <a:t>Date of Birth:</a:t>
            </a:r>
            <a:r>
              <a:rPr lang="en-IN" sz="1200" dirty="0">
                <a:latin typeface="Segoe UI" panose="020B0502040204020203" pitchFamily="34" charset="0"/>
              </a:rPr>
              <a:t> 05/06/1992</a:t>
            </a:r>
            <a:endParaRPr lang="en-US" sz="1200" dirty="0">
              <a:latin typeface="WordVisi_MSFontService"/>
            </a:endParaRPr>
          </a:p>
          <a:p>
            <a:pPr marL="171450" lvl="2" indent="-171450">
              <a:lnSpc>
                <a:spcPct val="100000"/>
              </a:lnSpc>
              <a:spcBef>
                <a:spcPts val="0"/>
              </a:spcBef>
              <a:spcAft>
                <a:spcPts val="0"/>
              </a:spcAft>
              <a:buClr>
                <a:srgbClr val="0070AD"/>
              </a:buClr>
              <a:buSzPct val="100000"/>
              <a:defRPr/>
            </a:pPr>
            <a:r>
              <a:rPr lang="fr-FR" sz="1200" b="1" dirty="0">
                <a:latin typeface="Segoe UI" panose="020B0502040204020203" pitchFamily="34" charset="0"/>
              </a:rPr>
              <a:t>Email:</a:t>
            </a:r>
            <a:r>
              <a:rPr lang="fr-FR" sz="1200" dirty="0">
                <a:latin typeface="Segoe UI" panose="020B0502040204020203" pitchFamily="34" charset="0"/>
              </a:rPr>
              <a:t> chappidi.gopi@outlook.com</a:t>
            </a:r>
            <a:endParaRPr lang="en-IN" sz="1200" dirty="0">
              <a:solidFill>
                <a:srgbClr val="000000"/>
              </a:solidFill>
              <a:latin typeface="WordVisi_MSFontService"/>
              <a:ea typeface="Segoe UI" panose="020B0502040204020203" pitchFamily="34" charset="0"/>
              <a:cs typeface="Segoe UI"/>
            </a:endParaRPr>
          </a:p>
          <a:p>
            <a:pPr marL="171450" lvl="2" indent="-171450">
              <a:lnSpc>
                <a:spcPct val="100000"/>
              </a:lnSpc>
              <a:spcBef>
                <a:spcPts val="0"/>
              </a:spcBef>
              <a:spcAft>
                <a:spcPts val="0"/>
              </a:spcAft>
              <a:buClr>
                <a:srgbClr val="0070AD"/>
              </a:buClr>
              <a:buSzPct val="100000"/>
              <a:defRPr/>
            </a:pPr>
            <a:r>
              <a:rPr lang="it-IT" sz="1200" b="1" dirty="0">
                <a:latin typeface="Segoe UI" panose="020B0502040204020203" pitchFamily="34" charset="0"/>
              </a:rPr>
              <a:t>Mobile No:</a:t>
            </a:r>
            <a:r>
              <a:rPr lang="it-IT" sz="1200" dirty="0">
                <a:latin typeface="Segoe UI" panose="020B0502040204020203" pitchFamily="34" charset="0"/>
              </a:rPr>
              <a:t> +91 90105 40405</a:t>
            </a:r>
          </a:p>
          <a:p>
            <a:pPr marL="171450" marR="0" lvl="2" indent="-171450" algn="l" defTabSz="914400">
              <a:lnSpc>
                <a:spcPct val="100000"/>
              </a:lnSpc>
              <a:spcBef>
                <a:spcPts val="0"/>
              </a:spcBef>
              <a:spcAft>
                <a:spcPts val="0"/>
              </a:spcAft>
              <a:buClr>
                <a:srgbClr val="0070AD"/>
              </a:buClr>
              <a:buSzPct val="100000"/>
              <a:tabLst/>
              <a:defRPr/>
            </a:pPr>
            <a:endParaRPr lang="en-IN" sz="1200" b="0" i="0" u="none" strike="noStrike" kern="1200" cap="none" spc="0" normalizeH="0" baseline="0" noProof="0" dirty="0">
              <a:ln>
                <a:noFill/>
              </a:ln>
              <a:solidFill>
                <a:srgbClr val="000000"/>
              </a:solidFill>
              <a:effectLst/>
              <a:uLnTx/>
              <a:uFillTx/>
              <a:latin typeface="WordVisi_MSFontService"/>
              <a:ea typeface="Segoe UI" panose="020B0502040204020203" pitchFamily="34" charset="0"/>
              <a:cs typeface="Segoe UI"/>
            </a:endParaRPr>
          </a:p>
          <a:p>
            <a:pPr marL="0" lvl="2" indent="0">
              <a:lnSpc>
                <a:spcPct val="100000"/>
              </a:lnSpc>
              <a:spcBef>
                <a:spcPts val="0"/>
              </a:spcBef>
              <a:spcAft>
                <a:spcPts val="0"/>
              </a:spcAft>
              <a:buClr>
                <a:srgbClr val="0070AD"/>
              </a:buClr>
              <a:buSzPct val="100000"/>
              <a:buNone/>
              <a:defRPr/>
            </a:pPr>
            <a:endParaRPr lang="en-IN" sz="1000" dirty="0">
              <a:solidFill>
                <a:srgbClr val="000000"/>
              </a:solidFill>
              <a:latin typeface="Ubuntu" panose="020B0504030602030204" pitchFamily="34" charset="0"/>
              <a:ea typeface="Segoe UI" panose="020B0502040204020203" pitchFamily="34" charset="0"/>
              <a:cs typeface="Segoe UI"/>
            </a:endParaRPr>
          </a:p>
        </p:txBody>
      </p:sp>
    </p:spTree>
    <p:extLst>
      <p:ext uri="{BB962C8B-B14F-4D97-AF65-F5344CB8AC3E}">
        <p14:creationId xmlns:p14="http://schemas.microsoft.com/office/powerpoint/2010/main" val="1315565703"/>
      </p:ext>
    </p:extLst>
  </p:cSld>
  <p:clrMapOvr>
    <a:masterClrMapping/>
  </p:clrMapOvr>
  <mc:AlternateContent xmlns:mc="http://schemas.openxmlformats.org/markup-compatibility/2006" xmlns:p14="http://schemas.microsoft.com/office/powerpoint/2010/main">
    <mc:Choice Requires="p14">
      <p:transition spd="slow" p14:dur="125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emplate>office theme</Template>
  <TotalTime>213</TotalTime>
  <Words>689</Words>
  <Application>Microsoft Office PowerPoint</Application>
  <PresentationFormat>Widescreen</PresentationFormat>
  <Paragraphs>54</Paragraphs>
  <Slides>1</Slides>
  <Notes>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4" baseType="lpstr">
      <vt:lpstr>Aptos</vt:lpstr>
      <vt:lpstr>Aptos Display</vt:lpstr>
      <vt:lpstr>Arial</vt:lpstr>
      <vt:lpstr>Arial,Sans-Serif</vt:lpstr>
      <vt:lpstr>Calibri</vt:lpstr>
      <vt:lpstr>Open Sans</vt:lpstr>
      <vt:lpstr>Segoe UI</vt:lpstr>
      <vt:lpstr>Times New Roman</vt:lpstr>
      <vt:lpstr>Ubuntu</vt:lpstr>
      <vt:lpstr>Verdana</vt:lpstr>
      <vt:lpstr>WordVisi_MSFontService</vt:lpstr>
      <vt:lpstr>office theme</vt:lpstr>
      <vt:lpstr>Diapositive think-cell</vt:lpstr>
      <vt:lpstr>Chappidi Gopi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Kadaba, Manjunath</dc:creator>
  <cp:lastModifiedBy>Gopi, Chappidi</cp:lastModifiedBy>
  <cp:revision>149</cp:revision>
  <dcterms:created xsi:type="dcterms:W3CDTF">2013-07-15T20:26:40Z</dcterms:created>
  <dcterms:modified xsi:type="dcterms:W3CDTF">2026-01-03T21:26:10Z</dcterms:modified>
</cp:coreProperties>
</file>